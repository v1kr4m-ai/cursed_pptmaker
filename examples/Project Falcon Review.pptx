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028090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19</c:v>
                </c:pt>
                <c:pt idx="2">
                  <c:v>15</c:v>
                </c:pt>
                <c:pt idx="3">
                  <c:v>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02A37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</c:v>
                </c:pt>
                <c:pt idx="1">
                  <c:v>14</c:v>
                </c:pt>
                <c:pt idx="2">
                  <c:v>18</c:v>
                </c:pt>
                <c:pt idx="3">
                  <c:v>21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Q4</c:v>
                </c:pt>
              </c:strCache>
            </c:strRef>
          </c:tx>
          <c:dPt>
            <c:idx val="0"/>
            <c:spPr>
              <a:solidFill>
                <a:srgbClr val="028090"/>
              </a:solidFill>
            </c:spPr>
          </c:dPt>
          <c:dPt>
            <c:idx val="1"/>
            <c:spPr>
              <a:solidFill>
                <a:srgbClr val="02A37F"/>
              </a:solidFill>
            </c:spPr>
          </c:dPt>
          <c:cat>
            <c:strRef>
              <c:f>Sheet1!$A$2:$A$3</c:f>
              <c:strCache>
                <c:ptCount val="2"/>
                <c:pt idx="0">
                  <c:v>North</c:v>
                </c:pt>
                <c:pt idx="1">
                  <c:v>South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</c:v>
                </c:pt>
                <c:pt idx="1">
                  <c:v>21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31750">
              <a:solidFill>
                <a:srgbClr val="02809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19</c:v>
                </c:pt>
                <c:pt idx="2">
                  <c:v>15</c:v>
                </c:pt>
                <c:pt idx="3">
                  <c:v>24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bullets so this splits onto a continuation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 bullets so this splits onto a continuation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  <a:cs typeface="Nirmala UI"/>
              </a:rPr>
              <a:t>Project Falcon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794760"/>
            <a:ext cx="1097280" cy="109728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6E8EE"/>
                </a:solidFill>
                <a:latin typeface="Calibri"/>
                <a:cs typeface="Nirmala UI"/>
              </a:rPr>
              <a:t>Pilot results, sales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A0A6B4"/>
                </a:solidFill>
                <a:latin typeface="Calibri"/>
                <a:cs typeface="Nirmala UI"/>
              </a:rPr>
              <a:t>Test deck - every slide type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" y="210312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"/>
                <a:cs typeface="Nirmala UI"/>
              </a:rPr>
              <a:t>Pilot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E6E8EE"/>
                </a:solidFill>
                <a:latin typeface="Calibri"/>
                <a:cs typeface="Nirmala UI"/>
              </a:rPr>
              <a:t>What changed in the first quarter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28090"/>
                </a:solidFill>
                <a:latin typeface="Calibri"/>
                <a:cs typeface="Nirmala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470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Speed: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processing time down 40% in the pilot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Onboarding: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new teams productive in days, not weeks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Cost: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lower cloud spend after moving batch jobs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Reliability: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99.9% uptime across the pilot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28090"/>
                </a:solidFill>
                <a:latin typeface="Calibri"/>
                <a:cs typeface="Nirmala UI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Summary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94415" cy="36575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Adoption: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1,200 users by end of quarter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Feedback: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most requests are for more integrations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Risk: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single region deployment still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646420"/>
            <a:ext cx="457200" cy="457200"/>
          </a:xfrm>
          <a:prstGeom prst="ellipse">
            <a:avLst/>
          </a:prstGeom>
          <a:solidFill>
            <a:srgbClr val="E89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5532120"/>
            <a:ext cx="1004285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A2F3A"/>
                </a:solidFill>
                <a:latin typeface="Calibri"/>
                <a:cs typeface="Nirmala UI"/>
              </a:rPr>
              <a:t>Next review: </a:t>
            </a:r>
            <a:r>
              <a:rPr sz="1500" b="0">
                <a:solidFill>
                  <a:srgbClr val="2A2F3A"/>
                </a:solidFill>
                <a:latin typeface="Calibri"/>
                <a:cs typeface="Nirmala UI"/>
              </a:rPr>
              <a:t>after the Q3 rollout to two more regions.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Quarterly 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00200"/>
            <a:ext cx="6035040" cy="470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1">
                <a:solidFill>
                  <a:srgbClr val="2A2F3A"/>
                </a:solidFill>
                <a:latin typeface="Calibri"/>
                <a:cs typeface="Nirmala UI"/>
              </a:rPr>
              <a:t>Q4 best quarter: </a:t>
            </a: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24 units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Q2 strong start</a:t>
            </a:r>
          </a:p>
          <a:p>
            <a:pPr algn="l" marL="274320" indent="-274320">
              <a:spcAft>
                <a:spcPts val="1400"/>
              </a:spcAft>
              <a:buClr>
                <a:srgbClr val="028090"/>
              </a:buClr>
              <a:buChar char="●"/>
            </a:pPr>
            <a:r>
              <a:rPr sz="2000" b="0">
                <a:solidFill>
                  <a:srgbClr val="2A2F3A"/>
                </a:solidFill>
                <a:latin typeface="Calibri"/>
                <a:cs typeface="Nirmala UI"/>
              </a:rPr>
              <a:t>Q3 dip from a delayed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508760"/>
            <a:ext cx="4690872" cy="4800600"/>
          </a:xfrm>
          <a:prstGeom prst="roundRect">
            <a:avLst>
              <a:gd name="adj" fmla="val 4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252853"/>
            <a:ext cx="4416552" cy="33124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Why it worked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515258" cy="32918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178308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606039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2E33"/>
                </a:solidFill>
                <a:latin typeface="Calibri"/>
                <a:cs typeface="Nirmala UI"/>
              </a:rPr>
              <a:t>Faster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383279"/>
            <a:ext cx="29666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A2F3A"/>
                </a:solidFill>
                <a:latin typeface="Calibri"/>
                <a:cs typeface="Nirmala UI"/>
              </a:rPr>
              <a:t>Templates and defaults remove most of the setup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8218" y="1508760"/>
            <a:ext cx="3515258" cy="32918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612538" y="1783080"/>
            <a:ext cx="640080" cy="640080"/>
          </a:xfrm>
          <a:prstGeom prst="ellipse">
            <a:avLst/>
          </a:prstGeom>
          <a:solidFill>
            <a:srgbClr val="02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2538" y="2606039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2E33"/>
                </a:solidFill>
                <a:latin typeface="Calibri"/>
                <a:cs typeface="Nirmala UI"/>
              </a:rPr>
              <a:t>Lower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2538" y="3383279"/>
            <a:ext cx="29666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A2F3A"/>
                </a:solidFill>
                <a:latin typeface="Calibri"/>
                <a:cs typeface="Nirmala UI"/>
              </a:rPr>
              <a:t>Batch jobs run on spot capacity overnight.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7796" y="1508760"/>
            <a:ext cx="3515258" cy="32918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02116" y="1783080"/>
            <a:ext cx="640080" cy="64008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02116" y="2606039"/>
            <a:ext cx="296661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B2E33"/>
                </a:solidFill>
                <a:latin typeface="Calibri"/>
                <a:cs typeface="Nirmala UI"/>
              </a:rPr>
              <a:t>Fewer incidents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2116" y="3383279"/>
            <a:ext cx="296661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A2F3A"/>
                </a:solidFill>
                <a:latin typeface="Calibri"/>
                <a:cs typeface="Nirmala UI"/>
              </a:rPr>
              <a:t>Health checks catch bad deploys before users notice.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Four focus areas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5410047" cy="2011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178308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737360"/>
            <a:ext cx="4084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240280"/>
            <a:ext cx="4084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A2F3A"/>
                </a:solidFill>
                <a:latin typeface="Calibri"/>
                <a:cs typeface="Nirmala UI"/>
              </a:rPr>
              <a:t>SSO everywhere by Q3.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508760"/>
            <a:ext cx="5410047" cy="2011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07327" y="1783080"/>
            <a:ext cx="548640" cy="548640"/>
          </a:xfrm>
          <a:prstGeom prst="ellipse">
            <a:avLst/>
          </a:prstGeom>
          <a:solidFill>
            <a:srgbClr val="02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4567" y="1737360"/>
            <a:ext cx="4084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4567" y="2240280"/>
            <a:ext cx="4084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A2F3A"/>
                </a:solidFill>
                <a:latin typeface="Calibri"/>
                <a:cs typeface="Nirmala UI"/>
              </a:rPr>
              <a:t>Second region 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5410047" cy="2011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4069080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023360"/>
            <a:ext cx="4084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526280"/>
            <a:ext cx="4084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A2F3A"/>
                </a:solidFill>
                <a:latin typeface="Calibri"/>
                <a:cs typeface="Nirmala UI"/>
              </a:rPr>
              <a:t>24h response target.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794760"/>
            <a:ext cx="5410047" cy="201168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07327" y="4069080"/>
            <a:ext cx="548640" cy="548640"/>
          </a:xfrm>
          <a:prstGeom prst="ellipse">
            <a:avLst/>
          </a:prstGeom>
          <a:solidFill>
            <a:srgbClr val="02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4567" y="4023360"/>
            <a:ext cx="4084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4567" y="4526280"/>
            <a:ext cx="4084167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A2F3A"/>
                </a:solidFill>
                <a:latin typeface="Calibri"/>
                <a:cs typeface="Nirmala UI"/>
              </a:rPr>
              <a:t>Every API documented with examples.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Rollout plan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1094415" cy="106299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59" y="1765935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19" y="1618488"/>
            <a:ext cx="329184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Prepare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1618488"/>
            <a:ext cx="6248095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F3A"/>
                </a:solidFill>
                <a:latin typeface="Calibri"/>
                <a:cs typeface="Nirmala UI"/>
              </a:rPr>
              <a:t>Freeze config, back up data, notify teams.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54630"/>
            <a:ext cx="11094415" cy="106299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3011805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19" y="2864358"/>
            <a:ext cx="329184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Migrate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864358"/>
            <a:ext cx="6248095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F3A"/>
                </a:solidFill>
                <a:latin typeface="Calibri"/>
                <a:cs typeface="Nirmala UI"/>
              </a:rPr>
              <a:t>Move one team at a time, verify each before the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00500"/>
            <a:ext cx="11094415" cy="106299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2959" y="4257675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4110228"/>
            <a:ext cx="329184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Monitor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110228"/>
            <a:ext cx="6248095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F3A"/>
                </a:solidFill>
                <a:latin typeface="Calibri"/>
                <a:cs typeface="Nirmala UI"/>
              </a:rPr>
              <a:t>Watch error rates and latency for 48 hours.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46370"/>
            <a:ext cx="11094415" cy="106299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" y="5503545"/>
            <a:ext cx="548640" cy="54864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19" y="5356098"/>
            <a:ext cx="329184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B2E33"/>
                </a:solidFill>
                <a:latin typeface="Calibri"/>
                <a:cs typeface="Nirmala UI"/>
              </a:rPr>
              <a:t>Close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5356098"/>
            <a:ext cx="6248095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A2F3A"/>
                </a:solidFill>
                <a:latin typeface="Calibri"/>
                <a:cs typeface="Nirmala UI"/>
              </a:rPr>
              <a:t>Remove the old system and update docs.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Pilot in numbers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515258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783080"/>
            <a:ext cx="2966618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028090"/>
                </a:solidFill>
                <a:latin typeface="Calibri"/>
                <a:cs typeface="Nirmala UI"/>
              </a:rPr>
              <a:t>40%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3063239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A2F3A"/>
                </a:solidFill>
                <a:latin typeface="Calibri"/>
                <a:cs typeface="Nirmala UI"/>
              </a:rPr>
              <a:t>faster processing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8218" y="1508760"/>
            <a:ext cx="3515258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2538" y="1783080"/>
            <a:ext cx="2966618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02A37F"/>
                </a:solidFill>
                <a:latin typeface="Calibri"/>
                <a:cs typeface="Nirmala UI"/>
              </a:rPr>
              <a:t>1,200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2538" y="3063239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A2F3A"/>
                </a:solidFill>
                <a:latin typeface="Calibri"/>
                <a:cs typeface="Nirmala UI"/>
              </a:rPr>
              <a:t>active users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7796" y="1508760"/>
            <a:ext cx="3515258" cy="237744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02116" y="1783080"/>
            <a:ext cx="2966618" cy="11887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028090"/>
                </a:solidFill>
                <a:latin typeface="Calibri"/>
                <a:cs typeface="Nirmala UI"/>
              </a:rPr>
              <a:t>99.9%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02116" y="3063239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A2F3A"/>
                </a:solidFill>
                <a:latin typeface="Calibri"/>
                <a:cs typeface="Nirmala UI"/>
              </a:rPr>
              <a:t>uptime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51960"/>
            <a:ext cx="11094415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A2F3A"/>
                </a:solidFill>
                <a:latin typeface="Calibri"/>
                <a:cs typeface="Nirmala UI"/>
              </a:rPr>
              <a:t>Source: </a:t>
            </a:r>
            <a:r>
              <a:rPr sz="1800" b="0">
                <a:solidFill>
                  <a:srgbClr val="2A2F3A"/>
                </a:solidFill>
                <a:latin typeface="Calibri"/>
                <a:cs typeface="Nirmala UI"/>
              </a:rPr>
              <a:t>pilot report, table 1.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Deploy command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11094415" cy="86868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" y="1714500"/>
            <a:ext cx="457200" cy="457200"/>
          </a:xfrm>
          <a:prstGeom prst="ellipse">
            <a:avLst/>
          </a:prstGeom>
          <a:solidFill>
            <a:srgbClr val="E89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600200"/>
            <a:ext cx="1004285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2A2F3A"/>
                </a:solidFill>
                <a:latin typeface="Calibri"/>
                <a:cs typeface="Nirmala UI"/>
              </a:rPr>
              <a:t>Run as Administrator: </a:t>
            </a:r>
            <a:r>
              <a:rPr sz="1500" b="0">
                <a:solidFill>
                  <a:srgbClr val="2A2F3A"/>
                </a:solidFill>
                <a:latin typeface="Calibri"/>
                <a:cs typeface="Nirmala UI"/>
              </a:rPr>
              <a:t>the script registers a Windows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06039"/>
            <a:ext cx="11094415" cy="1455420"/>
          </a:xfrm>
          <a:prstGeom prst="roundRect">
            <a:avLst>
              <a:gd name="adj" fmla="val 4000"/>
            </a:avLst>
          </a:prstGeom>
          <a:solidFill>
            <a:srgbClr val="0B2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770632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4EBFA5"/>
                </a:solidFill>
                <a:latin typeface="Calibri"/>
                <a:cs typeface="Nirmala UI"/>
              </a:rPr>
              <a:t>POWERSHELL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63239"/>
            <a:ext cx="10545775" cy="861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400" b="0">
                <a:solidFill>
                  <a:srgbClr val="E6E8EE"/>
                </a:solidFill>
                <a:latin typeface="Courier New"/>
                <a:cs typeface="Nirmala UI"/>
              </a:rPr>
              <a:t>.\deploy.ps1 -Env prod `</a:t>
            </a:r>
          </a:p>
          <a:p>
            <a:pPr algn="l">
              <a:spcAft>
                <a:spcPts val="100"/>
              </a:spcAft>
            </a:pPr>
            <a:r>
              <a:rPr sz="1400" b="0">
                <a:solidFill>
                  <a:srgbClr val="E6E8EE"/>
                </a:solidFill>
                <a:latin typeface="Courier New"/>
                <a:cs typeface="Nirmala UI"/>
              </a:rPr>
              <a:t>  -Region west `</a:t>
            </a:r>
          </a:p>
          <a:p>
            <a:pPr algn="l">
              <a:spcAft>
                <a:spcPts val="100"/>
              </a:spcAft>
            </a:pPr>
            <a:r>
              <a:rPr sz="1400" b="0">
                <a:solidFill>
                  <a:srgbClr val="E6E8EE"/>
                </a:solidFill>
                <a:latin typeface="Courier New"/>
                <a:cs typeface="Nirmala UI"/>
              </a:rPr>
              <a:t>  -Confirm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Sales by region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10944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7416"/>
                <a:gridCol w="3503499"/>
                <a:gridCol w="3503499"/>
              </a:tblGrid>
              <a:tr h="54864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Quarter</a:t>
                      </a:r>
                    </a:p>
                  </a:txBody>
                  <a:tcPr anchor="ctr" marL="137160" marR="137160">
                    <a:solidFill>
                      <a:srgbClr val="0B2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North</a:t>
                      </a:r>
                    </a:p>
                  </a:txBody>
                  <a:tcPr anchor="ctr" marL="137160" marR="137160">
                    <a:solidFill>
                      <a:srgbClr val="0B2E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Nirmala UI"/>
                        </a:rPr>
                        <a:t>South</a:t>
                      </a:r>
                    </a:p>
                  </a:txBody>
                  <a:tcPr anchor="ctr" marL="137160" marR="137160">
                    <a:solidFill>
                      <a:srgbClr val="0B2E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Q1</a:t>
                      </a:r>
                    </a:p>
                  </a:txBody>
                  <a:tcPr anchor="ctr" marL="137160" marR="137160"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12</a:t>
                      </a:r>
                    </a:p>
                  </a:txBody>
                  <a:tcPr anchor="ctr" marL="137160" marR="137160"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9</a:t>
                      </a:r>
                    </a:p>
                  </a:txBody>
                  <a:tcPr anchor="ctr" marL="137160" marR="137160">
                    <a:solidFill>
                      <a:srgbClr val="E6F2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Q2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19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14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Q3</a:t>
                      </a:r>
                    </a:p>
                  </a:txBody>
                  <a:tcPr anchor="ctr" marL="137160" marR="137160"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15</a:t>
                      </a:r>
                    </a:p>
                  </a:txBody>
                  <a:tcPr anchor="ctr" marL="137160" marR="137160">
                    <a:solidFill>
                      <a:srgbClr val="E6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18</a:t>
                      </a:r>
                    </a:p>
                  </a:txBody>
                  <a:tcPr anchor="ctr" marL="137160" marR="137160">
                    <a:solidFill>
                      <a:srgbClr val="E6F2F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Q4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24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A2F3A"/>
                          </a:solidFill>
                          <a:latin typeface="Calibri"/>
                          <a:cs typeface="Nirmala UI"/>
                        </a:rPr>
                        <a:t>21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Sales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508760"/>
          <a:ext cx="73152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138160" y="1508760"/>
            <a:ext cx="3504895" cy="4800600"/>
          </a:xfrm>
          <a:prstGeom prst="roundRect">
            <a:avLst>
              <a:gd name="adj" fmla="val 8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783080"/>
            <a:ext cx="2956255" cy="4251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2A2F3A"/>
                </a:solidFill>
                <a:latin typeface="Calibri"/>
                <a:cs typeface="Nirmala UI"/>
              </a:rPr>
              <a:t>South overtook North in Q3: </a:t>
            </a:r>
            <a:r>
              <a:rPr sz="1700" b="0">
                <a:solidFill>
                  <a:srgbClr val="2A2F3A"/>
                </a:solidFill>
                <a:latin typeface="Calibri"/>
                <a:cs typeface="Nirmala UI"/>
              </a:rPr>
              <a:t>new distributor signed in July.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Share of Q4 sales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508760"/>
          <a:ext cx="11094415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Trend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508760"/>
          <a:ext cx="11094415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0B2E33"/>
                </a:solidFill>
                <a:latin typeface="Calibri"/>
                <a:cs typeface="Nirmala UI"/>
              </a:rPr>
              <a:t>Scanned approval memo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6949440" cy="4343400"/>
          </a:xfrm>
          <a:prstGeom prst="roundRect">
            <a:avLst>
              <a:gd name="adj" fmla="val 4000"/>
            </a:avLst>
          </a:prstGeom>
          <a:solidFill>
            <a:srgbClr val="E6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92908"/>
            <a:ext cx="6583679" cy="19751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94360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  <a:cs typeface="Nirmala UI"/>
              </a:rPr>
              <a:t>Budget approval, scanned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00200"/>
            <a:ext cx="3779215" cy="470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74320" indent="-274320">
              <a:spcAft>
                <a:spcPts val="1200"/>
              </a:spcAft>
              <a:buClr>
                <a:srgbClr val="028090"/>
              </a:buClr>
              <a:buChar char="●"/>
            </a:pPr>
            <a:r>
              <a:rPr sz="1800" b="0">
                <a:solidFill>
                  <a:srgbClr val="2A2F3A"/>
                </a:solidFill>
                <a:latin typeface="Calibri"/>
                <a:cs typeface="Nirmala UI"/>
              </a:rPr>
              <a:t>Approved for 2026</a:t>
            </a:r>
          </a:p>
          <a:p>
            <a:pPr algn="l" marL="274320" indent="-274320">
              <a:spcAft>
                <a:spcPts val="1200"/>
              </a:spcAft>
              <a:buClr>
                <a:srgbClr val="028090"/>
              </a:buClr>
              <a:buChar char="●"/>
            </a:pPr>
            <a:r>
              <a:rPr sz="1800" b="0">
                <a:solidFill>
                  <a:srgbClr val="2A2F3A"/>
                </a:solidFill>
                <a:latin typeface="Calibri"/>
                <a:cs typeface="Nirmala UI"/>
              </a:rPr>
              <a:t>Covers both regions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E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  <a:cs typeface="Nirmala UI"/>
              </a:rPr>
              <a:t>Takeaways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783080"/>
            <a:ext cx="548640" cy="548640"/>
          </a:xfrm>
          <a:prstGeom prst="ellipse">
            <a:avLst/>
          </a:prstGeom>
          <a:solidFill>
            <a:srgbClr val="02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178308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  <a:cs typeface="Nirmala UI"/>
              </a:rPr>
              <a:t>Pilot hit every target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02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65176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  <a:cs typeface="Nirmala UI"/>
              </a:rPr>
              <a:t>Roll out region by region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520439"/>
            <a:ext cx="548640" cy="548640"/>
          </a:xfrm>
          <a:prstGeom prst="ellipse">
            <a:avLst/>
          </a:prstGeom>
          <a:solidFill>
            <a:srgbClr val="02A3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520439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  <a:cs typeface="Nirmala UI"/>
              </a:rPr>
              <a:t>Next review after Q3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Falcon Review</dc:title>
  <dc:subject/>
  <dc:creator/>
  <cp:keywords/>
  <dc:description>Built by make_ppt.py (offline) from a hand-written spec; no AI model involved.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